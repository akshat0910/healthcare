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5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embeddedFontLst>
    <p:embeddedFont>
      <p:font typeface="Kanit Light" panose="020B0604020202020204" charset="-34"/>
      <p:regular r:id="rId22"/>
    </p:embeddedFont>
    <p:embeddedFont>
      <p:font typeface="Martel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2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EBF3-42A0-E715-9B16-A0391679F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E25F9-2DC6-1DC5-BC69-8B2095750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E59A-7A9B-2943-18FC-46D7E522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17E9E-86A4-5E97-1E83-48CEE291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50259-94AA-9861-E873-EA92E50C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944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6854-B7AD-95B9-BE08-F2C0B96F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3A405-DCFB-2554-A190-879E29478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3D7B-21DB-8EB6-4EC4-DE1F0171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E276E-9716-7FC1-7406-0E70F590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E16A3-945F-53DF-2787-426FED3E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1951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5772-E909-6199-1982-63503DB3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E6436-08D4-A233-4275-E6E2F3E4D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03D9-081D-233B-201C-AFF10B3D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34160-0B30-80E2-C670-2D2B015E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78CE-AD62-9EE4-9DCB-F7245F9C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703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FFA7-2802-80EF-F63F-6EA3FEB5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09F7-6827-0E93-3365-5D25EED1A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542CA-4A08-4CA3-6606-D0B78A81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65732-3A64-1CA6-2D46-6319ECE2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2847D-72E5-7B50-777C-DB385A2C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20735-DD50-0034-AB3B-1F1CD00F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3722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3538-CE1D-95FA-1243-1D258620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DE068-C643-B435-0ACD-5B847BB30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56281-0C1F-BFFE-1879-D773C2CAE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377C6-1A46-0C08-9A92-1BDDCA3AA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DE03F-DB75-FA51-BC17-D6B5D9332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DE059-4C3B-BE87-6852-F64BFF97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3CC56-4AEC-D478-67A3-742D28A1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F4905-5473-F585-8BF1-B21A82D8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485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22DD-981E-29D1-2BDB-DC9FB818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A08AB-EABD-6A0E-8587-6FC04A67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998A0-7BB0-3B33-48CC-D02243F4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13A0A-A791-2DEC-6EE5-456A2607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5561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82CD9-73DF-5D6A-B5AC-C03F250C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C34DD-3408-8642-86F5-5300C70C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B9F7F-A339-0366-45CD-F0D928A4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9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3410-AD19-A911-BD3E-05FCD719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82C8-5936-80A1-5AFE-8B32025DE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3625A-BFAE-2A5C-096D-C043DE5BB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4480-83A9-5885-1173-A130F815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4D4D1-CA19-4EB1-AD51-A2F381B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BE2F2-F183-F3D1-82AC-18A0448C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764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BB08-1746-7F34-57F3-32AFB782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3AF06-A892-C6EC-11BF-896E3EE76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11C89-51A7-9642-B1AF-28DEA29E2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07421-D179-A009-A87F-59204E64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0B589-14A9-D4FD-A411-B4DD4C9C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128BC-D2DC-1943-FB64-AB5E7BF0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140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8B47-C8F0-CB64-A958-C18578F4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D376E-D4F7-ADC7-8AE7-D85AA15C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8355-8368-DC37-1305-541D5E9E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8E3BA-1159-E5C9-9538-A24F3133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D5B70-6F2D-EA99-88F5-0A8F7668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6954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D6246-F7BC-3403-2B2F-E14DCA224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4A150-6528-1C55-3067-403AFC6C5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F2147-5AED-BF55-4964-72BDED3B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10AE5-3DA8-4B8B-DC46-317B0F64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AC81-C156-F2A0-F01D-8EE72396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006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22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151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893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27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778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791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350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764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803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500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3801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5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19BA9-8976-D73F-7EDF-60E10F56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0CEB-4DB7-F571-BBC0-934CFB1B7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66EC-4301-1F0F-3DEC-1985BA817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F8633-91C5-A3B8-E9B8-EA045E87A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15D5-92E7-B733-3B8E-493A83523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01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5746"/>
            <a:ext cx="7556421" cy="173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0">
              <a:spcAft>
                <a:spcPts val="4800"/>
              </a:spcAft>
            </a:pPr>
            <a:r>
              <a:rPr lang="en-IN" sz="48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Healt</a:t>
            </a:r>
            <a:r>
              <a:rPr lang="en-IN" sz="4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hX</a:t>
            </a:r>
            <a:r>
              <a:rPr lang="en-IN" sz="48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 Empowering Healthcare</a:t>
            </a:r>
            <a:endParaRPr lang="en-IN" sz="4800" b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br>
              <a:rPr lang="en-IN" sz="4800" dirty="0"/>
            </a:b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Welcome! Today, we'll explore the development of a state-of-the-art Hospital Management System that leverages cutting-edge technologies to improve patient care, enhance efficiency, and empower healthcare professionals.</a:t>
            </a:r>
            <a:endParaRPr lang="en-US" sz="17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ECCDFD-40C7-3426-F167-123B3489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4534" y="611949"/>
            <a:ext cx="1272078" cy="120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9038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Introduction: A Vision for the Future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9841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Streamlining Healthcare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system aims to streamline healthcare services for patients, doctors, and administrators. It integrates key features to improve the patient experience, enhance efficiency, and ensure smooth operations.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features include patient registration, appointment booking, AI-driven chatbot, voice control, and telemedicine, all designed to improve healthcare accessibility and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4812" y="774621"/>
            <a:ext cx="7314605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Motivation: Addressing Critical Needs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812" y="1604963"/>
            <a:ext cx="448866" cy="4488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14812" y="2233374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Bridging the Gap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14812" y="2621518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pandemic highlighted the need for digital healthcare solutions to ensure access to care for patients in remote areas.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812" y="3734514"/>
            <a:ext cx="448866" cy="4488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14812" y="4362926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Accessibility for All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14812" y="4751070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Voice control enables patients with disabilities to interact with the system hands-free, promoting inclusivity.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812" y="5864066"/>
            <a:ext cx="448866" cy="4488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14812" y="6492478"/>
            <a:ext cx="2606159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Instant Medical Assistance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14812" y="6880622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AI-based chatbot offers instant medical assistance to users, answering questions and providing guidance.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31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 &amp; Objectives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960846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187660"/>
            <a:ext cx="41848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Challenges in Traditional Systems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678079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Existing hospital systems often lack AI-driven automation, telemedicine, and voice accessibility, leading to inefficiencies and manual processes.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993600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Our Objectives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710833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aim to develop an HMS with AI chatbot, voice control, and telemedicine support, ensuring secure role-based access and data privacy.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779" y="932140"/>
            <a:ext cx="7645241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Features: Empowering Efficiency and Accessibility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5779" y="2832378"/>
            <a:ext cx="374690" cy="374690"/>
          </a:xfrm>
          <a:prstGeom prst="roundRect">
            <a:avLst>
              <a:gd name="adj" fmla="val 24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24543" y="2832378"/>
            <a:ext cx="3126819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Patient Registration &amp; Appointment Booking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824543" y="3629978"/>
            <a:ext cx="3126819" cy="137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Streamlined registration and appointment booking processes, offering convenience to patients.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5437" y="2832378"/>
            <a:ext cx="374690" cy="374690"/>
          </a:xfrm>
          <a:prstGeom prst="roundRect">
            <a:avLst>
              <a:gd name="adj" fmla="val 24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54201" y="2832378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AI-Driven Chatbot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754201" y="3295412"/>
            <a:ext cx="3126819" cy="1713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 chatbot uses AI/ML to suggest medications based on user-reported symptoms, providing quick medical advice.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5779" y="5463659"/>
            <a:ext cx="374690" cy="374690"/>
          </a:xfrm>
          <a:prstGeom prst="roundRect">
            <a:avLst>
              <a:gd name="adj" fmla="val 24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24543" y="5463659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Telemedicine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824543" y="5926693"/>
            <a:ext cx="3126819" cy="137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video consultations with doctors using WebRTC, extending healthcare access to remote areas.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5437" y="5463659"/>
            <a:ext cx="374690" cy="374690"/>
          </a:xfrm>
          <a:prstGeom prst="roundRect">
            <a:avLst>
              <a:gd name="adj" fmla="val 24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54201" y="5463659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Voice Control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754201" y="5926693"/>
            <a:ext cx="3126819" cy="137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Hands-free interaction with the system using voice commands, promoting accessibility for diverse users.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9145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Stack: Building the Foundation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HTML, CSS, JavaScript, React.js for a responsive and engaging user interface. Voice API for voice control.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Node.js, Express.js for robust API development. WebRTC for real-time telemedicine. Twilio API for SMS notifications.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MongoDB for efficient data storage. MySQL/PostgreSQL for relational data management. Firebase for real-time data synchronization.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683" y="554593"/>
            <a:ext cx="97751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Architecture: A Seamless Integration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23" y="1587818"/>
            <a:ext cx="1635800" cy="1483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71925" y="2320409"/>
            <a:ext cx="76676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029795" y="1950601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029795" y="2386608"/>
            <a:ext cx="861298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Patients, doctors, and administrators interact with the system through the user interface.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878586" y="3087410"/>
            <a:ext cx="8995767" cy="11430"/>
          </a:xfrm>
          <a:prstGeom prst="roundRect">
            <a:avLst>
              <a:gd name="adj" fmla="val 740878"/>
            </a:avLst>
          </a:prstGeom>
          <a:solidFill>
            <a:srgbClr val="C5D2C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583" y="3122176"/>
            <a:ext cx="3271599" cy="14839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46565" y="3662482"/>
            <a:ext cx="127516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847755" y="3323749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Server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847755" y="3759756"/>
            <a:ext cx="787538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server handles requests, processes data, and interacts with the database and APIs.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696545" y="4621768"/>
            <a:ext cx="8177808" cy="11430"/>
          </a:xfrm>
          <a:prstGeom prst="roundRect">
            <a:avLst>
              <a:gd name="adj" fmla="val 740878"/>
            </a:avLst>
          </a:prstGeom>
          <a:solidFill>
            <a:srgbClr val="C5D2C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623" y="4656534"/>
            <a:ext cx="4907518" cy="14839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45493" y="5196840"/>
            <a:ext cx="12954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6665714" y="4858107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665714" y="5294114"/>
            <a:ext cx="7057430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Stores and manages patient data, appointments, and medical records securely.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514505" y="6156127"/>
            <a:ext cx="7359848" cy="11430"/>
          </a:xfrm>
          <a:prstGeom prst="roundRect">
            <a:avLst>
              <a:gd name="adj" fmla="val 740878"/>
            </a:avLst>
          </a:prstGeom>
          <a:solidFill>
            <a:srgbClr val="C5D2C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64" y="6190893"/>
            <a:ext cx="6543318" cy="14839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42159" y="6731198"/>
            <a:ext cx="136327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7483554" y="6392466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API Services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483554" y="6828473"/>
            <a:ext cx="623958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 with external services like the chatbot, telemedicine platform, and security services.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842" y="357188"/>
            <a:ext cx="8350687" cy="40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Methodology: A Structured Development Process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37818" y="1018699"/>
            <a:ext cx="15240" cy="6853714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775454" y="1301591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500182" y="1163955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5910" y="1212294"/>
            <a:ext cx="58936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5527" y="1147763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Requirement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55527" y="1426964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key modules, user roles, and system requirements to define the scope of the project.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5454" y="2174438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10" name="Shape 8"/>
          <p:cNvSpPr/>
          <p:nvPr/>
        </p:nvSpPr>
        <p:spPr>
          <a:xfrm>
            <a:off x="500182" y="2036802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384" y="2085142"/>
            <a:ext cx="9798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5527" y="2020610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55527" y="2299811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Design the user interface (UI), develop flow diagrams, and finalize the architecture of the system.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5454" y="3047286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0182" y="2909649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670" y="2957989"/>
            <a:ext cx="99536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55527" y="2893457"/>
            <a:ext cx="162317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 Development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55527" y="3172658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the user interface using React.js and integrate voice control functionalities.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5454" y="3920133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0182" y="3782497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050" y="3830836"/>
            <a:ext cx="104775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5527" y="3766304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 Development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55527" y="4045506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Develop APIs for patient registration, appointment booking, and other key features.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5454" y="4792980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0182" y="4655344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789" y="4703683"/>
            <a:ext cx="99179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55527" y="4639151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Chatbot Integration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55527" y="4918353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Dialogflow and NLP models for chatbot functionality, enabling medical advice based on symptoms.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5454" y="5665827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0182" y="5528191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0312" y="5576530"/>
            <a:ext cx="110252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55527" y="5511998"/>
            <a:ext cx="175557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Telemedicine Integration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55527" y="5791200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WebRTC for real-time video consultations, facilitating remote healthcare access.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5454" y="6538674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35" name="Shape 33"/>
          <p:cNvSpPr/>
          <p:nvPr/>
        </p:nvSpPr>
        <p:spPr>
          <a:xfrm>
            <a:off x="500182" y="6401038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7218" y="6449378"/>
            <a:ext cx="9644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55527" y="6384846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Testing &amp; QA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355527" y="6664047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Conduct thorough testing of APIs, UI, and chatbot response accuracy to ensure quality and functionality.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5454" y="7411522"/>
            <a:ext cx="451842" cy="15240"/>
          </a:xfrm>
          <a:prstGeom prst="roundRect">
            <a:avLst>
              <a:gd name="adj" fmla="val 355850"/>
            </a:avLst>
          </a:prstGeom>
          <a:solidFill>
            <a:srgbClr val="C5D2CF"/>
          </a:solidFill>
          <a:ln/>
        </p:spPr>
      </p:sp>
      <p:sp>
        <p:nvSpPr>
          <p:cNvPr id="40" name="Shape 38"/>
          <p:cNvSpPr/>
          <p:nvPr/>
        </p:nvSpPr>
        <p:spPr>
          <a:xfrm>
            <a:off x="500182" y="7273885"/>
            <a:ext cx="290513" cy="29051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883" y="7322225"/>
            <a:ext cx="113109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55527" y="7257693"/>
            <a:ext cx="16140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355527" y="7536894"/>
            <a:ext cx="128230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the system using CI/CD, Docker, and cloud platforms like AWS or Heroku.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93011" y="2055257"/>
            <a:ext cx="594360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Gantt Chart: A Visual Plan of 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893011" y="3926324"/>
            <a:ext cx="59436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8640723" y="4958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93011" y="5448538"/>
            <a:ext cx="59436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project timeline spans 8 weeks, covering all phases from requirement analysis to deployment.</a:t>
            </a:r>
            <a:endParaRPr lang="en-US" sz="17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0E892F-9395-E075-210B-761348995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41" y="338667"/>
            <a:ext cx="7710369" cy="753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Conclusion: A Future-Ready Healthcare Solution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5080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885242"/>
            <a:ext cx="3021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Automation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37566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Hospital Management System leverages AI-driven automation for tasks like appointment scheduling and medical advice.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65080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885242"/>
            <a:ext cx="28419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Accessibility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37566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Telemedicine and voice control make healthcare services more accessible to patients, regardless of location or ability.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51421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Security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security measures such as encryption, authentication, and HIPAA compliance protect patient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3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4FBD1-B168-D5A1-A4B3-C2AA0601D13A}"/>
              </a:ext>
            </a:extLst>
          </p:cNvPr>
          <p:cNvSpPr txBox="1"/>
          <p:nvPr/>
        </p:nvSpPr>
        <p:spPr>
          <a:xfrm>
            <a:off x="6011333" y="2871520"/>
            <a:ext cx="3708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 CHART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DF12CC9-30E2-2B8F-3E61-37A173155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49599" cy="847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56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4ABED-00CE-DC68-7BBF-89B8353351E6}"/>
              </a:ext>
            </a:extLst>
          </p:cNvPr>
          <p:cNvSpPr txBox="1"/>
          <p:nvPr/>
        </p:nvSpPr>
        <p:spPr>
          <a:xfrm>
            <a:off x="1562100" y="685800"/>
            <a:ext cx="491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8EB76-BA10-FC0D-3CDA-AAB5A18529B6}"/>
              </a:ext>
            </a:extLst>
          </p:cNvPr>
          <p:cNvSpPr txBox="1"/>
          <p:nvPr/>
        </p:nvSpPr>
        <p:spPr>
          <a:xfrm>
            <a:off x="1238250" y="2419350"/>
            <a:ext cx="12192000" cy="4037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Aft>
                <a:spcPts val="14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Smith, J., &amp; Brown, R.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(2023).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Developing an AI-powered Chatbot for Healthcare Systems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Journal of Artificial Intelligence, 45(3), 112-130.</a:t>
            </a:r>
            <a:endParaRPr lang="en-US" b="1" dirty="0">
              <a:effectLst/>
            </a:endParaRPr>
          </a:p>
          <a:p>
            <a:pPr algn="just" rtl="0">
              <a:spcAft>
                <a:spcPts val="14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Lee, K., &amp; Kim, H.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(2022).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Telemedicine in Modern Healthcare: Challenges and Benefits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International Health Journal, 29(4), 213-230.</a:t>
            </a:r>
            <a:endParaRPr lang="en-US" b="1" dirty="0">
              <a:effectLst/>
            </a:endParaRPr>
          </a:p>
          <a:p>
            <a:pPr algn="just" rtl="0">
              <a:spcAft>
                <a:spcPts val="14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Patel, S., &amp; Gupta, R.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(2021).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Security in Healthcare: HIPAA Compliance and Best Practices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Cybersecurity Today, 19(2), 45-60.</a:t>
            </a:r>
            <a:endParaRPr lang="en-US" b="1" dirty="0">
              <a:effectLst/>
            </a:endParaRPr>
          </a:p>
          <a:p>
            <a:pPr algn="just" rtl="0">
              <a:spcAft>
                <a:spcPts val="14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Kumar, A., &amp; Singh, M.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(2022).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Voice-Enabled Technologies for Accessibility in Healthcare Systems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Journal of Accessibility, 12(7), 98-110.</a:t>
            </a:r>
            <a:endParaRPr lang="en-US" b="1" dirty="0">
              <a:effectLst/>
            </a:endParaRPr>
          </a:p>
          <a:p>
            <a:pPr algn="just" rtl="0">
              <a:spcAft>
                <a:spcPts val="14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Sharma, P., &amp; Verma, N.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(2023).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Machine Learning Models for Symptom-Based Diagnosis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International Journal of Machine Learning and AI, 41(1), 18-40.</a:t>
            </a:r>
            <a:endParaRPr lang="en-US" b="1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750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37EA1-3BA2-B1C3-3D87-70DDAE742FCE}"/>
              </a:ext>
            </a:extLst>
          </p:cNvPr>
          <p:cNvSpPr txBox="1"/>
          <p:nvPr/>
        </p:nvSpPr>
        <p:spPr>
          <a:xfrm>
            <a:off x="2914650" y="857250"/>
            <a:ext cx="9239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Made By:</a:t>
            </a:r>
          </a:p>
          <a:p>
            <a:r>
              <a:rPr lang="en-IN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Akshat Srivastava                    2100520100112 </a:t>
            </a:r>
          </a:p>
          <a:p>
            <a:r>
              <a:rPr lang="en-IN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Pankaj Mohan Awasthi          2100520100142</a:t>
            </a:r>
          </a:p>
          <a:p>
            <a:r>
              <a:rPr lang="en-IN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Abhijeet Rao                             2100520100101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6C8B6-6528-0D3C-FE10-6EDF0E501E48}"/>
              </a:ext>
            </a:extLst>
          </p:cNvPr>
          <p:cNvSpPr txBox="1"/>
          <p:nvPr/>
        </p:nvSpPr>
        <p:spPr>
          <a:xfrm>
            <a:off x="2571750" y="4376410"/>
            <a:ext cx="94869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</a:pPr>
            <a:r>
              <a:rPr lang="en-IN" sz="4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Under the guidance of:</a:t>
            </a:r>
            <a:r>
              <a:rPr lang="en-IN" sz="48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endParaRPr lang="en-IN" sz="4800" b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ctr" rtl="0">
              <a:spcBef>
                <a:spcPts val="1200"/>
              </a:spcBef>
            </a:pPr>
            <a:r>
              <a:rPr lang="en-IN" sz="4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sz="48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Ms. Deepali Awasthi  </a:t>
            </a:r>
            <a:endParaRPr lang="en-IN" sz="4800" b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ctr" rtl="0">
              <a:spcBef>
                <a:spcPts val="1200"/>
              </a:spcBef>
            </a:pPr>
            <a:r>
              <a:rPr lang="en-IN" sz="48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Dr.</a:t>
            </a:r>
            <a:r>
              <a:rPr lang="en-IN" sz="48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Pawan  Kumar Tiwar</a:t>
            </a:r>
            <a:r>
              <a:rPr lang="en-IN" sz="4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i </a:t>
            </a:r>
            <a:endParaRPr lang="en-IN" sz="4800" b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br>
              <a:rPr lang="en-IN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55EF3E-83ED-A0D1-AE3A-B95B22213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9684" y="5679249"/>
            <a:ext cx="1272078" cy="120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1857026-8147-2BC1-A6A4-A9F8F1913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72" y="5679249"/>
            <a:ext cx="1272078" cy="120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23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91233-46E0-2D9C-4F7C-360F3E95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4DE4-C83B-381A-EF85-81626B360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600" y="466635"/>
            <a:ext cx="2997200" cy="914400"/>
          </a:xfrm>
        </p:spPr>
        <p:txBody>
          <a:bodyPr>
            <a:normAutofit/>
          </a:bodyPr>
          <a:lstStyle/>
          <a:p>
            <a:r>
              <a:rPr lang="en-IN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HomePage</a:t>
            </a:r>
            <a:endParaRPr lang="en-I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2ACBC-9D64-97E4-1B69-0BF66FA2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7153465" y="6309360"/>
            <a:ext cx="508001" cy="5734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DCE80-D11C-1391-18EB-B8FD6B385026}"/>
              </a:ext>
            </a:extLst>
          </p:cNvPr>
          <p:cNvSpPr txBox="1"/>
          <p:nvPr/>
        </p:nvSpPr>
        <p:spPr>
          <a:xfrm>
            <a:off x="5729820" y="560145"/>
            <a:ext cx="32596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</a:t>
            </a:r>
            <a:endParaRPr lang="en-IN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D4AA9A-EEE9-1102-8212-B5DC0B06950C}"/>
              </a:ext>
            </a:extLst>
          </p:cNvPr>
          <p:cNvSpPr txBox="1"/>
          <p:nvPr/>
        </p:nvSpPr>
        <p:spPr>
          <a:xfrm>
            <a:off x="10119787" y="537466"/>
            <a:ext cx="3611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10E6E-8871-518E-8D02-B8CC23BC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6" y="1368463"/>
            <a:ext cx="4572001" cy="61705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0D5880-EC9E-C9BF-D4B6-5E6C4A79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67" y="1579019"/>
            <a:ext cx="4982637" cy="5877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E5F3ED-6E3C-D3E6-C30B-6CA67E96C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668" y="1690546"/>
            <a:ext cx="498263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04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6A2C-5529-0B2E-FBD2-822791C71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6932"/>
            <a:ext cx="10972800" cy="994623"/>
          </a:xfrm>
        </p:spPr>
        <p:txBody>
          <a:bodyPr>
            <a:normAutofit fontScale="90000"/>
          </a:bodyPr>
          <a:lstStyle/>
          <a:p>
            <a:r>
              <a:rPr lang="en-IN" dirty="0"/>
              <a:t>Admin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E7EBD-A976-29D0-F2B4-337FC1693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93065" y="4322446"/>
            <a:ext cx="524934" cy="198691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6240F-EC54-3986-160D-1095768A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3152"/>
            <a:ext cx="5842000" cy="6125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3298D-D8C4-CD50-BD9C-EA1B37306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543152"/>
            <a:ext cx="7889664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31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4664-AA84-8891-D480-EA75753C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133" y="135467"/>
            <a:ext cx="2167468" cy="1893359"/>
          </a:xfrm>
        </p:spPr>
        <p:txBody>
          <a:bodyPr/>
          <a:lstStyle/>
          <a:p>
            <a:r>
              <a:rPr lang="en-IN" dirty="0"/>
              <a:t>Doctor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C745D7-5B05-3AF4-D40A-C672608F6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1" y="2515254"/>
            <a:ext cx="5977466" cy="504641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CDD9C-E423-535D-4F8C-572F4E7A2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132" y="2515255"/>
            <a:ext cx="7552267" cy="557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C1FE-6256-77DB-55D8-E27CB01B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0" y="438150"/>
            <a:ext cx="2946400" cy="1590676"/>
          </a:xfrm>
        </p:spPr>
        <p:txBody>
          <a:bodyPr/>
          <a:lstStyle/>
          <a:p>
            <a:r>
              <a:rPr lang="en-IN" dirty="0"/>
              <a:t>TIMELINE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BB96756-8BC2-E6E4-15DA-DA0EFA5C62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28827"/>
            <a:ext cx="14461067" cy="459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270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903</Words>
  <Application>Microsoft Office PowerPoint</Application>
  <PresentationFormat>Custom</PresentationFormat>
  <Paragraphs>117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Kanit Light</vt:lpstr>
      <vt:lpstr>Martel Sans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HomePage</vt:lpstr>
      <vt:lpstr>Admin </vt:lpstr>
      <vt:lpstr>Doctor </vt:lpstr>
      <vt:lpstr>TIMELINE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Akshat Srivastava</cp:lastModifiedBy>
  <cp:revision>5</cp:revision>
  <dcterms:created xsi:type="dcterms:W3CDTF">2024-12-12T19:27:59Z</dcterms:created>
  <dcterms:modified xsi:type="dcterms:W3CDTF">2025-05-09T05:13:06Z</dcterms:modified>
</cp:coreProperties>
</file>